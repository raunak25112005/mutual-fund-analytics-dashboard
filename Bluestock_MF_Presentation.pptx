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Text 0"/>
          <p:cNvSpPr txBox="1"/>
          <p:nvPr/>
        </p:nvSpPr>
        <p:spPr>
          <a:xfrm>
            <a:off x="3925118" y="1577950"/>
            <a:ext cx="4722764" cy="885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000"/>
              </a:lnSpc>
              <a:defRPr b="1" sz="27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Mutual Fund Analytics Dashboard</a:t>
            </a:r>
          </a:p>
        </p:txBody>
      </p:sp>
      <p:sp>
        <p:nvSpPr>
          <p:cNvPr id="31" name="Text 1"/>
          <p:cNvSpPr txBox="1"/>
          <p:nvPr/>
        </p:nvSpPr>
        <p:spPr>
          <a:xfrm>
            <a:off x="3925118" y="2676525"/>
            <a:ext cx="4722764" cy="45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33000"/>
              </a:lnSpc>
              <a:defRPr b="1"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Building an End-to-End Mutual Fund Analytics Platform</a:t>
            </a:r>
            <a:r>
              <a:rPr b="0"/>
              <a:t> using Data Engineering, Financial Analytics, and Interactive Dashboards</a:t>
            </a:r>
          </a:p>
        </p:txBody>
      </p:sp>
      <p:sp>
        <p:nvSpPr>
          <p:cNvPr id="32" name="Shape 2"/>
          <p:cNvSpPr/>
          <p:nvPr/>
        </p:nvSpPr>
        <p:spPr>
          <a:xfrm>
            <a:off x="3925118" y="3289622"/>
            <a:ext cx="3140795" cy="275928"/>
          </a:xfrm>
          <a:prstGeom prst="roundRect">
            <a:avLst>
              <a:gd name="adj" fmla="val 17263"/>
            </a:avLst>
          </a:prstGeom>
          <a:ln w="4763">
            <a:solidFill>
              <a:srgbClr val="4950B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3"/>
          <p:cNvSpPr txBox="1"/>
          <p:nvPr/>
        </p:nvSpPr>
        <p:spPr>
          <a:xfrm>
            <a:off x="4014935" y="3336875"/>
            <a:ext cx="263649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3000"/>
              </a:lnSpc>
              <a:defRPr sz="800">
                <a:solidFill>
                  <a:srgbClr val="4950BC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CAPSTONE PROJECT · DATA &amp; FINANCIAL ANALYTICS</a:t>
            </a:r>
          </a:p>
        </p:txBody>
      </p:sp>
      <p:sp>
        <p:nvSpPr>
          <p:cNvPr id="34" name="Raunak Rai"/>
          <p:cNvSpPr txBox="1"/>
          <p:nvPr/>
        </p:nvSpPr>
        <p:spPr>
          <a:xfrm>
            <a:off x="3953715" y="4498101"/>
            <a:ext cx="1172132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6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Raunak Rai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Text 0"/>
          <p:cNvSpPr txBox="1"/>
          <p:nvPr/>
        </p:nvSpPr>
        <p:spPr>
          <a:xfrm>
            <a:off x="418654" y="415677"/>
            <a:ext cx="4877693" cy="747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000"/>
              </a:lnSpc>
              <a:defRPr b="1" sz="23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The Problem: Fund Evaluation at Scale</a:t>
            </a:r>
          </a:p>
        </p:txBody>
      </p:sp>
      <p:sp>
        <p:nvSpPr>
          <p:cNvPr id="38" name="Text 1"/>
          <p:cNvSpPr txBox="1"/>
          <p:nvPr/>
        </p:nvSpPr>
        <p:spPr>
          <a:xfrm>
            <a:off x="418654" y="1314599"/>
            <a:ext cx="4877693" cy="529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3000"/>
              </a:lnSpc>
              <a:defRPr sz="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Investors and advisors lack systematic tools to compare thousands of mutual funds across performance, risk, and concentration — manual analysis is slow, inconsistent, and error-prone.</a:t>
            </a:r>
          </a:p>
        </p:txBody>
      </p:sp>
      <p:pic>
        <p:nvPicPr>
          <p:cNvPr id="3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8654" y="1957164"/>
            <a:ext cx="239167" cy="239168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ext 2"/>
          <p:cNvSpPr txBox="1"/>
          <p:nvPr/>
        </p:nvSpPr>
        <p:spPr>
          <a:xfrm>
            <a:off x="418654" y="2322463"/>
            <a:ext cx="186529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Build a Unified ETL Pipeline</a:t>
            </a:r>
          </a:p>
        </p:txBody>
      </p:sp>
      <p:sp>
        <p:nvSpPr>
          <p:cNvPr id="41" name="Text 3"/>
          <p:cNvSpPr txBox="1"/>
          <p:nvPr/>
        </p:nvSpPr>
        <p:spPr>
          <a:xfrm>
            <a:off x="418654" y="2569815"/>
            <a:ext cx="407302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Ingest, clean, and standardize 8 financial datasets into a single SQLite database</a:t>
            </a:r>
          </a:p>
        </p:txBody>
      </p:sp>
      <p:pic>
        <p:nvPicPr>
          <p:cNvPr id="4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18654" y="2947988"/>
            <a:ext cx="239167" cy="239168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Text 4"/>
          <p:cNvSpPr txBox="1"/>
          <p:nvPr/>
        </p:nvSpPr>
        <p:spPr>
          <a:xfrm>
            <a:off x="418653" y="3313286"/>
            <a:ext cx="218125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Compute Advanced Risk Metrics</a:t>
            </a:r>
          </a:p>
        </p:txBody>
      </p:sp>
      <p:sp>
        <p:nvSpPr>
          <p:cNvPr id="44" name="Text 5"/>
          <p:cNvSpPr txBox="1"/>
          <p:nvPr/>
        </p:nvSpPr>
        <p:spPr>
          <a:xfrm>
            <a:off x="418654" y="3560638"/>
            <a:ext cx="406197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Sharpe, Sortino, VaR, CVaR, Alpha/Beta, and Maximum Drawdown at fund level</a:t>
            </a:r>
          </a:p>
        </p:txBody>
      </p:sp>
      <p:pic>
        <p:nvPicPr>
          <p:cNvPr id="45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18654" y="3938811"/>
            <a:ext cx="239167" cy="239168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Text 6"/>
          <p:cNvSpPr txBox="1"/>
          <p:nvPr/>
        </p:nvSpPr>
        <p:spPr>
          <a:xfrm>
            <a:off x="418654" y="4304108"/>
            <a:ext cx="218664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Deliver an Interactive Dashboard</a:t>
            </a:r>
          </a:p>
        </p:txBody>
      </p:sp>
      <p:sp>
        <p:nvSpPr>
          <p:cNvPr id="47" name="Text 7"/>
          <p:cNvSpPr txBox="1"/>
          <p:nvPr/>
        </p:nvSpPr>
        <p:spPr>
          <a:xfrm>
            <a:off x="418654" y="4551462"/>
            <a:ext cx="430721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23000"/>
              </a:lnSpc>
              <a:defRPr sz="9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Streamlit-powered platform for real-time exploration, rankings, and recommendations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 txBox="1"/>
          <p:nvPr/>
        </p:nvSpPr>
        <p:spPr>
          <a:xfrm>
            <a:off x="980182" y="326901"/>
            <a:ext cx="4845026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Data Architecture: 8 Integrated Datasets</a:t>
            </a:r>
          </a:p>
        </p:txBody>
      </p:sp>
      <p:sp>
        <p:nvSpPr>
          <p:cNvPr id="50" name="Text 1"/>
          <p:cNvSpPr txBox="1"/>
          <p:nvPr/>
        </p:nvSpPr>
        <p:spPr>
          <a:xfrm>
            <a:off x="980181" y="805085"/>
            <a:ext cx="7183564" cy="288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6000"/>
              </a:lnSpc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Eight datasets spanning fund metadata, market performance, investor behavior, and portfolio holdings — forming the analytical backbone of the platform.</a:t>
            </a:r>
          </a:p>
        </p:txBody>
      </p:sp>
      <p:pic>
        <p:nvPicPr>
          <p:cNvPr id="5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0182" y="1265858"/>
            <a:ext cx="3464794" cy="3464794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Text 2"/>
          <p:cNvSpPr txBox="1"/>
          <p:nvPr/>
        </p:nvSpPr>
        <p:spPr>
          <a:xfrm>
            <a:off x="4703638" y="2489001"/>
            <a:ext cx="109015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Technology Stack</a:t>
            </a:r>
          </a:p>
        </p:txBody>
      </p:sp>
      <p:sp>
        <p:nvSpPr>
          <p:cNvPr id="53" name="Text 3"/>
          <p:cNvSpPr txBox="1"/>
          <p:nvPr/>
        </p:nvSpPr>
        <p:spPr>
          <a:xfrm>
            <a:off x="4703638" y="2728093"/>
            <a:ext cx="3464794" cy="829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16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Python</a:t>
            </a:r>
            <a:r>
              <a:rPr b="0"/>
              <a:t> — Core analytics and ETL logic</a:t>
            </a:r>
          </a:p>
          <a:p>
            <a:pPr marL="342900" indent="-342900">
              <a:lnSpc>
                <a:spcPct val="116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Pandas &amp; NumPy</a:t>
            </a:r>
            <a:r>
              <a:rPr b="0"/>
              <a:t> — Data transformation and computation</a:t>
            </a:r>
          </a:p>
          <a:p>
            <a:pPr marL="342900" indent="-342900">
              <a:lnSpc>
                <a:spcPct val="116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SQLite</a:t>
            </a:r>
            <a:r>
              <a:rPr b="0"/>
              <a:t> — Relational data storage</a:t>
            </a:r>
          </a:p>
          <a:p>
            <a:pPr marL="342900" indent="-342900">
              <a:lnSpc>
                <a:spcPct val="116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Matplotlib</a:t>
            </a:r>
            <a:r>
              <a:rPr b="0"/>
              <a:t> — Visualization and charting</a:t>
            </a:r>
          </a:p>
          <a:p>
            <a:pPr marL="342900" indent="-342900">
              <a:lnSpc>
                <a:spcPct val="116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Streamlit</a:t>
            </a:r>
            <a:r>
              <a:rPr b="0"/>
              <a:t> — Interactive dashboard interface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 txBox="1"/>
          <p:nvPr/>
        </p:nvSpPr>
        <p:spPr>
          <a:xfrm>
            <a:off x="1056604" y="333152"/>
            <a:ext cx="403937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End-to-End Platform Architecture</a:t>
            </a:r>
          </a:p>
        </p:txBody>
      </p:sp>
      <p:sp>
        <p:nvSpPr>
          <p:cNvPr id="56" name="Text 1"/>
          <p:cNvSpPr txBox="1"/>
          <p:nvPr/>
        </p:nvSpPr>
        <p:spPr>
          <a:xfrm>
            <a:off x="1056604" y="797941"/>
            <a:ext cx="628709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15000"/>
              </a:lnSpc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 production-grade pipeline transforms raw financial data into actionable investor insights — from ingestion through interactive visualization.</a:t>
            </a:r>
          </a:p>
        </p:txBody>
      </p:sp>
      <p:pic>
        <p:nvPicPr>
          <p:cNvPr id="5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35745" y="1020366"/>
            <a:ext cx="6272361" cy="3427437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ext 2"/>
          <p:cNvSpPr txBox="1"/>
          <p:nvPr/>
        </p:nvSpPr>
        <p:spPr>
          <a:xfrm>
            <a:off x="2640188" y="2626323"/>
            <a:ext cx="69872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b="1" sz="1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Raw Data</a:t>
            </a:r>
          </a:p>
        </p:txBody>
      </p:sp>
      <p:sp>
        <p:nvSpPr>
          <p:cNvPr id="59" name="Text 3"/>
          <p:cNvSpPr txBox="1"/>
          <p:nvPr/>
        </p:nvSpPr>
        <p:spPr>
          <a:xfrm>
            <a:off x="6078588" y="2604023"/>
            <a:ext cx="116180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b="1" sz="1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ETL Processing</a:t>
            </a:r>
          </a:p>
        </p:txBody>
      </p:sp>
      <p:sp>
        <p:nvSpPr>
          <p:cNvPr id="60" name="Text 4"/>
          <p:cNvSpPr txBox="1"/>
          <p:nvPr/>
        </p:nvSpPr>
        <p:spPr>
          <a:xfrm>
            <a:off x="4521546" y="2611164"/>
            <a:ext cx="690315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b="1" sz="1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Analytics</a:t>
            </a:r>
          </a:p>
        </p:txBody>
      </p:sp>
      <p:sp>
        <p:nvSpPr>
          <p:cNvPr id="61" name="Text 5"/>
          <p:cNvSpPr txBox="1"/>
          <p:nvPr/>
        </p:nvSpPr>
        <p:spPr>
          <a:xfrm>
            <a:off x="1056604" y="4530178"/>
            <a:ext cx="7030717" cy="2800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15000"/>
              </a:lnSpc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Each stage is modular and independently testable — enabling incremental development, validation, and future extensibility without disrupting upstream components.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ln w="12700">
            <a:miter lim="400000"/>
          </a:ln>
        </p:spPr>
      </p:pic>
      <p:sp>
        <p:nvSpPr>
          <p:cNvPr id="64" name="Text 0"/>
          <p:cNvSpPr txBox="1"/>
          <p:nvPr/>
        </p:nvSpPr>
        <p:spPr>
          <a:xfrm>
            <a:off x="3785592" y="306436"/>
            <a:ext cx="5001817" cy="636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04000"/>
              </a:lnSpc>
              <a:defRPr b="1" sz="20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Exploratory Data Analysis: Industry Growth Signals</a:t>
            </a:r>
          </a:p>
        </p:txBody>
      </p:sp>
      <p:sp>
        <p:nvSpPr>
          <p:cNvPr id="65" name="Text 1"/>
          <p:cNvSpPr txBox="1"/>
          <p:nvPr/>
        </p:nvSpPr>
        <p:spPr>
          <a:xfrm>
            <a:off x="5656591" y="1103858"/>
            <a:ext cx="1259818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83000"/>
              </a:lnSpc>
              <a:defRPr b="1" sz="2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₹31K Cr</a:t>
            </a:r>
          </a:p>
        </p:txBody>
      </p:sp>
      <p:sp>
        <p:nvSpPr>
          <p:cNvPr id="66" name="Text 2"/>
          <p:cNvSpPr txBox="1"/>
          <p:nvPr/>
        </p:nvSpPr>
        <p:spPr>
          <a:xfrm>
            <a:off x="5550923" y="1545951"/>
            <a:ext cx="1471154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b="1" sz="1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Peak Monthly SIP Inflow</a:t>
            </a:r>
          </a:p>
        </p:txBody>
      </p:sp>
      <p:sp>
        <p:nvSpPr>
          <p:cNvPr id="67" name="Text 3"/>
          <p:cNvSpPr txBox="1"/>
          <p:nvPr/>
        </p:nvSpPr>
        <p:spPr>
          <a:xfrm>
            <a:off x="4817392" y="1749102"/>
            <a:ext cx="293821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15000"/>
              </a:lnSpc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Up from ₹11,517 Cr — a </a:t>
            </a:r>
            <a:r>
              <a:rPr b="1"/>
              <a:t>169% increase</a:t>
            </a:r>
            <a:r>
              <a:t> over the analysis period</a:t>
            </a:r>
          </a:p>
        </p:txBody>
      </p:sp>
      <p:sp>
        <p:nvSpPr>
          <p:cNvPr id="68" name="Text 4"/>
          <p:cNvSpPr txBox="1"/>
          <p:nvPr/>
        </p:nvSpPr>
        <p:spPr>
          <a:xfrm>
            <a:off x="5816612" y="2086496"/>
            <a:ext cx="939776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83000"/>
              </a:lnSpc>
              <a:defRPr b="1" sz="2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26Cr+</a:t>
            </a:r>
          </a:p>
        </p:txBody>
      </p:sp>
      <p:sp>
        <p:nvSpPr>
          <p:cNvPr id="69" name="Text 5"/>
          <p:cNvSpPr txBox="1"/>
          <p:nvPr/>
        </p:nvSpPr>
        <p:spPr>
          <a:xfrm>
            <a:off x="5722633" y="2528590"/>
            <a:ext cx="112773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b="1" sz="1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Total Active Folios</a:t>
            </a:r>
          </a:p>
        </p:txBody>
      </p:sp>
      <p:sp>
        <p:nvSpPr>
          <p:cNvPr id="70" name="Text 6"/>
          <p:cNvSpPr txBox="1"/>
          <p:nvPr/>
        </p:nvSpPr>
        <p:spPr>
          <a:xfrm>
            <a:off x="4619848" y="2731740"/>
            <a:ext cx="33333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15000"/>
              </a:lnSpc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Crossed 26 Crore investor accounts — reflecting deep market penetration</a:t>
            </a:r>
          </a:p>
        </p:txBody>
      </p:sp>
      <p:sp>
        <p:nvSpPr>
          <p:cNvPr id="71" name="Text 7"/>
          <p:cNvSpPr txBox="1"/>
          <p:nvPr/>
        </p:nvSpPr>
        <p:spPr>
          <a:xfrm>
            <a:off x="5770581" y="3069133"/>
            <a:ext cx="1031838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83000"/>
              </a:lnSpc>
              <a:defRPr b="1" sz="2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1,300+</a:t>
            </a:r>
          </a:p>
        </p:txBody>
      </p:sp>
      <p:sp>
        <p:nvSpPr>
          <p:cNvPr id="72" name="Text 8"/>
          <p:cNvSpPr txBox="1"/>
          <p:nvPr/>
        </p:nvSpPr>
        <p:spPr>
          <a:xfrm>
            <a:off x="5757886" y="3511227"/>
            <a:ext cx="105722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b="1" sz="1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At-Risk Investors</a:t>
            </a:r>
          </a:p>
        </p:txBody>
      </p:sp>
      <p:sp>
        <p:nvSpPr>
          <p:cNvPr id="73" name="Text 9"/>
          <p:cNvSpPr txBox="1"/>
          <p:nvPr/>
        </p:nvSpPr>
        <p:spPr>
          <a:xfrm>
            <a:off x="4787403" y="3714377"/>
            <a:ext cx="29981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15000"/>
              </a:lnSpc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Flagged for SIP discontinuity — a critical retention signal for AMCs</a:t>
            </a:r>
          </a:p>
        </p:txBody>
      </p:sp>
      <p:sp>
        <p:nvSpPr>
          <p:cNvPr id="74" name="Text 10"/>
          <p:cNvSpPr txBox="1"/>
          <p:nvPr/>
        </p:nvSpPr>
        <p:spPr>
          <a:xfrm>
            <a:off x="6096508" y="4051770"/>
            <a:ext cx="37998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83000"/>
              </a:lnSpc>
              <a:defRPr b="1" sz="26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#1</a:t>
            </a:r>
          </a:p>
        </p:txBody>
      </p:sp>
      <p:sp>
        <p:nvSpPr>
          <p:cNvPr id="75" name="Text 11"/>
          <p:cNvSpPr txBox="1"/>
          <p:nvPr/>
        </p:nvSpPr>
        <p:spPr>
          <a:xfrm>
            <a:off x="5779280" y="4493864"/>
            <a:ext cx="1014439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04000"/>
              </a:lnSpc>
              <a:defRPr b="1" sz="10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SBI Mutual Fund</a:t>
            </a:r>
          </a:p>
        </p:txBody>
      </p:sp>
      <p:sp>
        <p:nvSpPr>
          <p:cNvPr id="76" name="Text 12"/>
          <p:cNvSpPr txBox="1"/>
          <p:nvPr/>
        </p:nvSpPr>
        <p:spPr>
          <a:xfrm>
            <a:off x="4950122" y="4697016"/>
            <a:ext cx="267275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lnSpc>
                <a:spcPct val="115000"/>
              </a:lnSpc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Largest AMC by AUM, folio count, and category dominance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Industry Growth &amp; Investor Participation"/>
          <p:cNvSpPr txBox="1"/>
          <p:nvPr>
            <p:ph type="title" idx="4294967295"/>
          </p:nvPr>
        </p:nvSpPr>
        <p:spPr>
          <a:xfrm>
            <a:off x="457200" y="69056"/>
            <a:ext cx="5835702" cy="1131094"/>
          </a:xfrm>
          <a:prstGeom prst="rect">
            <a:avLst/>
          </a:prstGeom>
        </p:spPr>
        <p:txBody>
          <a:bodyPr/>
          <a:lstStyle>
            <a:lvl1pPr algn="l" defTabSz="457200">
              <a:spcBef>
                <a:spcPts val="1600"/>
              </a:spcBef>
              <a:defRPr b="1" sz="24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Industry Growth &amp; Investor Participation</a:t>
            </a:r>
          </a:p>
        </p:txBody>
      </p:sp>
      <p:sp>
        <p:nvSpPr>
          <p:cNvPr id="79" name="Executive Summary…"/>
          <p:cNvSpPr txBox="1"/>
          <p:nvPr>
            <p:ph type="body" sz="half" idx="4294967295"/>
          </p:nvPr>
        </p:nvSpPr>
        <p:spPr>
          <a:xfrm>
            <a:off x="457200" y="768421"/>
            <a:ext cx="4518156" cy="3113624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spcBef>
                <a:spcPts val="1500"/>
              </a:spcBef>
              <a:buSzTx/>
              <a:buFontTx/>
              <a:buNone/>
              <a:defRPr b="1"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Executive Summary</a:t>
            </a:r>
          </a:p>
          <a:p>
            <a:pPr marL="0" indent="0" defTabSz="457200">
              <a:spcBef>
                <a:spcPts val="1200"/>
              </a:spcBef>
              <a:buSzTx/>
              <a:buFontTx/>
              <a:buNone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mutual fund industry experienced significant growth in investor participation and systematic investment activity during the analysis period.</a:t>
            </a:r>
          </a:p>
          <a:p>
            <a:pPr marL="457200" indent="-317500" defTabSz="4572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SIP inflows increased from ₹11,517 Cr to ₹31,002 Cr</a:t>
            </a:r>
          </a:p>
          <a:p>
            <a:pPr marL="457200" indent="-317500" defTabSz="4572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Total investor folios crossed 26.12 Crore</a:t>
            </a:r>
          </a:p>
          <a:p>
            <a:pPr marL="457200" indent="-317500" defTabSz="4572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Strong participation from retail investors</a:t>
            </a:r>
          </a:p>
          <a:p>
            <a:pPr marL="457200" indent="-317500" defTabSz="457200">
              <a:spcBef>
                <a:spcPts val="0"/>
              </a:spcBef>
              <a:buFont typeface="Times Roman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Consistent growth across multiple fund categories</a:t>
            </a:r>
          </a:p>
        </p:txBody>
      </p:sp>
      <p:pic>
        <p:nvPicPr>
          <p:cNvPr id="80" name="Screenshot 2026-06-11 at 7.10.38 PM.png" descr="Screenshot 2026-06-11 at 7.10.38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13662" y="727326"/>
            <a:ext cx="4057301" cy="33715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 txBox="1"/>
          <p:nvPr/>
        </p:nvSpPr>
        <p:spPr>
          <a:xfrm>
            <a:off x="674489" y="346769"/>
            <a:ext cx="717519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Performance Analytics: Risk-Adjusted Fund Rankings</a:t>
            </a:r>
          </a:p>
        </p:txBody>
      </p:sp>
      <p:sp>
        <p:nvSpPr>
          <p:cNvPr id="83" name="Text 1"/>
          <p:cNvSpPr txBox="1"/>
          <p:nvPr/>
        </p:nvSpPr>
        <p:spPr>
          <a:xfrm>
            <a:off x="674488" y="1804615"/>
            <a:ext cx="1526414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1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Key Metrics Computed</a:t>
            </a:r>
          </a:p>
        </p:txBody>
      </p:sp>
      <p:sp>
        <p:nvSpPr>
          <p:cNvPr id="84" name="Text 2"/>
          <p:cNvSpPr txBox="1"/>
          <p:nvPr/>
        </p:nvSpPr>
        <p:spPr>
          <a:xfrm>
            <a:off x="622681" y="2102866"/>
            <a:ext cx="3759623" cy="1799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20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CAGR(Compound Annual Growth Rate) — </a:t>
            </a:r>
            <a:r>
              <a:rPr b="0"/>
              <a:t>measures long-term growth rate</a:t>
            </a:r>
            <a:endParaRPr b="0"/>
          </a:p>
          <a:p>
            <a:pPr marL="342900" indent="-342900">
              <a:lnSpc>
                <a:spcPct val="120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Sharpe Ratio(Return per unit of total risk) — </a:t>
            </a:r>
            <a:r>
              <a:rPr b="0"/>
              <a:t>higher values indicate better risk-adjusted performance</a:t>
            </a:r>
            <a:endParaRPr b="0"/>
          </a:p>
          <a:p>
            <a:pPr marL="342900" indent="-342900">
              <a:lnSpc>
                <a:spcPct val="120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Sortino Ratio(Return relative to downside risk only) — </a:t>
            </a:r>
            <a:r>
              <a:rPr b="0"/>
              <a:t>penalizes harmful volatility</a:t>
            </a:r>
            <a:endParaRPr b="0"/>
          </a:p>
          <a:p>
            <a:pPr marL="342900" indent="-342900">
              <a:lnSpc>
                <a:spcPct val="120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Alpha(Excess return over benchmark) — </a:t>
            </a:r>
            <a:r>
              <a:rPr b="0"/>
              <a:t>measures active manager skill</a:t>
            </a:r>
            <a:endParaRPr b="0"/>
          </a:p>
          <a:p>
            <a:pPr marL="342900" indent="-342900">
              <a:lnSpc>
                <a:spcPct val="120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Beta(Sensitivity to market movements) </a:t>
            </a:r>
            <a:r>
              <a:rPr b="0"/>
              <a:t>— measures systematic risk exposure</a:t>
            </a:r>
            <a:endParaRPr b="0"/>
          </a:p>
          <a:p>
            <a:pPr marL="342900" indent="-342900">
              <a:lnSpc>
                <a:spcPct val="120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Max Drawdown(Worst historical peak-to-trough decline) — </a:t>
            </a:r>
            <a:r>
              <a:rPr b="0"/>
              <a:t>measures downside severity</a:t>
            </a:r>
          </a:p>
        </p:txBody>
      </p:sp>
      <p:sp>
        <p:nvSpPr>
          <p:cNvPr id="85" name="Shape 3"/>
          <p:cNvSpPr/>
          <p:nvPr/>
        </p:nvSpPr>
        <p:spPr>
          <a:xfrm>
            <a:off x="4853616" y="1676723"/>
            <a:ext cx="3862799" cy="705446"/>
          </a:xfrm>
          <a:prstGeom prst="roundRect">
            <a:avLst>
              <a:gd name="adj" fmla="val 6726"/>
            </a:avLst>
          </a:prstGeom>
          <a:solidFill>
            <a:srgbClr val="B6D6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8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87449" y="3271391"/>
            <a:ext cx="141165" cy="112962"/>
          </a:xfrm>
          <a:prstGeom prst="rect">
            <a:avLst/>
          </a:prstGeom>
          <a:ln w="12700">
            <a:miter lim="400000"/>
          </a:ln>
        </p:spPr>
      </p:pic>
      <p:sp>
        <p:nvSpPr>
          <p:cNvPr id="87" name="Text 4"/>
          <p:cNvSpPr txBox="1"/>
          <p:nvPr/>
        </p:nvSpPr>
        <p:spPr>
          <a:xfrm>
            <a:off x="5145227" y="1854965"/>
            <a:ext cx="3279577" cy="4871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>
              <a:lnSpc>
                <a:spcPct val="120000"/>
              </a:lnSpc>
              <a:defRPr b="1" sz="800">
                <a:latin typeface="Inter"/>
                <a:ea typeface="Inter"/>
                <a:cs typeface="Inter"/>
                <a:sym typeface="Inter"/>
              </a:defRPr>
            </a:pPr>
            <a:r>
              <a:t>Top Performer:</a:t>
            </a:r>
            <a:r>
              <a:rPr b="0"/>
              <a:t> Mirae Asset Large Cap Fund achieved the highest Sharpe Ratio (~1.45), outperforming all peers on a risk-adjusted basis.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"/>
          <p:cNvSpPr txBox="1"/>
          <p:nvPr/>
        </p:nvSpPr>
        <p:spPr>
          <a:xfrm>
            <a:off x="4508500" y="2349579"/>
            <a:ext cx="127000" cy="447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  <p:graphicFrame>
        <p:nvGraphicFramePr>
          <p:cNvPr id="90" name="Table 1"/>
          <p:cNvGraphicFramePr/>
          <p:nvPr/>
        </p:nvGraphicFramePr>
        <p:xfrm>
          <a:off x="448637" y="770875"/>
          <a:ext cx="5978454" cy="3590571"/>
        </p:xfrm>
        <a:graphic xmlns:a="http://schemas.openxmlformats.org/drawingml/2006/main">
          <a:graphicData uri="http://schemas.openxmlformats.org/drawingml/2006/table">
            <a:tbl>
              <a:tblPr firstCol="1" firstRow="1" lastCol="0" lastRow="0" bandCol="0" bandRow="1" rtl="0">
                <a:tableStyleId>{4C3C2611-4C71-4FC5-86AE-919BDF0F9419}</a:tableStyleId>
              </a:tblPr>
              <a:tblGrid>
                <a:gridCol w="1491438"/>
                <a:gridCol w="1491438"/>
                <a:gridCol w="1491438"/>
                <a:gridCol w="1491438"/>
              </a:tblGrid>
              <a:tr h="59631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Rank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Fund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Sharpe</a:t>
                      </a:r>
                      <a:r>
                        <a:t> </a:t>
                      </a:r>
                      <a:r>
                        <a:rPr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Ratio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sz="1800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Category</a:t>
                      </a:r>
                      <a:endParaRPr b="0"/>
                    </a:p>
                  </a:txBody>
                  <a:tcPr marL="0" marR="0" marT="0" marB="0" anchor="t" anchorCtr="0" horzOverflow="overflow"/>
                </a:tc>
              </a:tr>
              <a:tr h="59631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Mirae Asset Large Cap Fund
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b="1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1.45</a:t>
                      </a:r>
                      <a:endParaRPr b="0"/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rPr sz="1200"/>
                        <a:t>Large</a:t>
                      </a:r>
                      <a:r>
                        <a:t> </a:t>
                      </a:r>
                      <a:r>
                        <a:rPr sz="1200"/>
                        <a:t>Cap</a:t>
                      </a:r>
                    </a:p>
                  </a:txBody>
                  <a:tcPr marL="0" marR="0" marT="0" marB="0" anchor="t" anchorCtr="0" horzOverflow="overflow"/>
                </a:tc>
              </a:tr>
              <a:tr h="59631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Kotak Flexicap Fund
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1.31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Flexi Cap</a:t>
                      </a:r>
                    </a:p>
                  </a:txBody>
                  <a:tcPr marL="0" marR="0" marT="0" marB="0" anchor="t" anchorCtr="0" horzOverflow="overflow"/>
                </a:tc>
              </a:tr>
              <a:tr h="59631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Mirae Asset Tax Saver Fund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b="1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1.23</a:t>
                      </a:r>
                      <a:endParaRPr b="0"/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ELSS
</a:t>
                      </a:r>
                    </a:p>
                  </a:txBody>
                  <a:tcPr marL="0" marR="0" marT="0" marB="0" anchor="t" anchorCtr="0" horzOverflow="overflow"/>
                </a:tc>
              </a:tr>
              <a:tr h="59631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SBI Bluechip Fund
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b="1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1.21</a:t>
                      </a:r>
                      <a:endParaRPr b="0"/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Large Cap</a:t>
                      </a:r>
                    </a:p>
                  </a:txBody>
                  <a:tcPr marL="0" marR="0" marT="0" marB="0" anchor="t" anchorCtr="0" horzOverflow="overflow"/>
                </a:tc>
              </a:tr>
              <a:tr h="596311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ICICI Prudential Midcap Fund</a:t>
                      </a:r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b="1">
                          <a:latin typeface="Times Roman"/>
                          <a:ea typeface="Times Roman"/>
                          <a:cs typeface="Times Roman"/>
                          <a:sym typeface="Times Roman"/>
                        </a:defRPr>
                      </a:pPr>
                      <a:r>
                        <a:t>1.18</a:t>
                      </a:r>
                      <a:endParaRPr b="0"/>
                    </a:p>
                  </a:txBody>
                  <a:tcPr marL="0" marR="0" marT="0" marB="0" anchor="t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spcBef>
                          <a:spcPts val="1200"/>
                        </a:spcBef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Mid Cap
</a:t>
                      </a:r>
                    </a:p>
                  </a:txBody>
                  <a:tcPr marL="0" marR="0" marT="0" marB="0" anchor="t" anchorCtr="0" horzOverflow="overflow"/>
                </a:tc>
              </a:tr>
            </a:tbl>
          </a:graphicData>
        </a:graphic>
      </p:graphicFrame>
      <p:sp>
        <p:nvSpPr>
          <p:cNvPr id="91" name="Text"/>
          <p:cNvSpPr txBox="1"/>
          <p:nvPr/>
        </p:nvSpPr>
        <p:spPr>
          <a:xfrm>
            <a:off x="4458122" y="2533555"/>
            <a:ext cx="481756" cy="333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/>
          <a:p>
            <a:pPr/>
          </a:p>
        </p:txBody>
      </p:sp>
      <p:sp>
        <p:nvSpPr>
          <p:cNvPr id="92" name="Top Risk-Adjusted Funds by Sharpe Ratio"/>
          <p:cNvSpPr txBox="1"/>
          <p:nvPr>
            <p:ph type="title" idx="4294967295"/>
          </p:nvPr>
        </p:nvSpPr>
        <p:spPr>
          <a:prstGeom prst="rect">
            <a:avLst/>
          </a:prstGeom>
        </p:spPr>
        <p:txBody>
          <a:bodyPr/>
          <a:lstStyle>
            <a:lvl1pPr algn="l" defTabSz="457200">
              <a:spcBef>
                <a:spcPts val="1600"/>
              </a:spcBef>
              <a:defRPr b="1" sz="2400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Top Risk-Adjusted Funds by Sharpe Ratio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 txBox="1"/>
          <p:nvPr/>
        </p:nvSpPr>
        <p:spPr>
          <a:xfrm>
            <a:off x="465161" y="478258"/>
            <a:ext cx="765196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6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Advanced Analytics: Beyond Traditional Returns</a:t>
            </a:r>
          </a:p>
        </p:txBody>
      </p:sp>
      <p:sp>
        <p:nvSpPr>
          <p:cNvPr id="95" name="Shape 1"/>
          <p:cNvSpPr/>
          <p:nvPr/>
        </p:nvSpPr>
        <p:spPr>
          <a:xfrm>
            <a:off x="465162" y="1142701"/>
            <a:ext cx="2654797" cy="1904927"/>
          </a:xfrm>
          <a:prstGeom prst="roundRect">
            <a:avLst>
              <a:gd name="adj" fmla="val 2930"/>
            </a:avLst>
          </a:prstGeom>
          <a:solidFill>
            <a:srgbClr val="DADBF1"/>
          </a:solidFill>
          <a:ln w="4763">
            <a:solidFill>
              <a:srgbClr val="C0C1D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Shape 2"/>
          <p:cNvSpPr/>
          <p:nvPr/>
        </p:nvSpPr>
        <p:spPr>
          <a:xfrm>
            <a:off x="602827" y="1280367"/>
            <a:ext cx="398712" cy="398712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2439" y="1389979"/>
            <a:ext cx="179413" cy="179413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Text 3"/>
          <p:cNvSpPr txBox="1"/>
          <p:nvPr/>
        </p:nvSpPr>
        <p:spPr>
          <a:xfrm>
            <a:off x="602828" y="1803648"/>
            <a:ext cx="967185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VaR &amp; CVaR</a:t>
            </a:r>
          </a:p>
        </p:txBody>
      </p:sp>
      <p:sp>
        <p:nvSpPr>
          <p:cNvPr id="99" name="Text 4"/>
          <p:cNvSpPr txBox="1"/>
          <p:nvPr/>
        </p:nvSpPr>
        <p:spPr>
          <a:xfrm>
            <a:off x="602827" y="2086049"/>
            <a:ext cx="2379465" cy="617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9000"/>
              </a:lnSpc>
              <a:defRPr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Value at Risk and Conditional VaR quantify tail-risk exposure — critical for downside protection analysis</a:t>
            </a:r>
          </a:p>
        </p:txBody>
      </p:sp>
      <p:sp>
        <p:nvSpPr>
          <p:cNvPr id="100" name="Shape 5"/>
          <p:cNvSpPr/>
          <p:nvPr/>
        </p:nvSpPr>
        <p:spPr>
          <a:xfrm>
            <a:off x="3244527" y="1142701"/>
            <a:ext cx="2654873" cy="1904927"/>
          </a:xfrm>
          <a:prstGeom prst="roundRect">
            <a:avLst>
              <a:gd name="adj" fmla="val 2930"/>
            </a:avLst>
          </a:prstGeom>
          <a:solidFill>
            <a:srgbClr val="DADBF1"/>
          </a:solidFill>
          <a:ln w="4763">
            <a:solidFill>
              <a:srgbClr val="C0C1D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Shape 6"/>
          <p:cNvSpPr/>
          <p:nvPr/>
        </p:nvSpPr>
        <p:spPr>
          <a:xfrm>
            <a:off x="3382193" y="1280367"/>
            <a:ext cx="398712" cy="398712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491805" y="1389979"/>
            <a:ext cx="179413" cy="179413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7"/>
          <p:cNvSpPr txBox="1"/>
          <p:nvPr/>
        </p:nvSpPr>
        <p:spPr>
          <a:xfrm>
            <a:off x="3382193" y="1803648"/>
            <a:ext cx="117767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Rolling Sharpe</a:t>
            </a:r>
          </a:p>
        </p:txBody>
      </p:sp>
      <p:sp>
        <p:nvSpPr>
          <p:cNvPr id="104" name="Text 8"/>
          <p:cNvSpPr txBox="1"/>
          <p:nvPr/>
        </p:nvSpPr>
        <p:spPr>
          <a:xfrm>
            <a:off x="3382193" y="2086049"/>
            <a:ext cx="2379540" cy="823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9000"/>
              </a:lnSpc>
              <a:defRPr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Time-varying Sharpe Ratio reveals performance consistency and identifies style drift over market cycles</a:t>
            </a:r>
          </a:p>
        </p:txBody>
      </p:sp>
      <p:sp>
        <p:nvSpPr>
          <p:cNvPr id="105" name="Shape 9"/>
          <p:cNvSpPr/>
          <p:nvPr/>
        </p:nvSpPr>
        <p:spPr>
          <a:xfrm>
            <a:off x="6023967" y="1142701"/>
            <a:ext cx="2654872" cy="1904927"/>
          </a:xfrm>
          <a:prstGeom prst="roundRect">
            <a:avLst>
              <a:gd name="adj" fmla="val 2930"/>
            </a:avLst>
          </a:prstGeom>
          <a:solidFill>
            <a:srgbClr val="DADBF1"/>
          </a:solidFill>
          <a:ln w="4763">
            <a:solidFill>
              <a:srgbClr val="C0C1D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Shape 10"/>
          <p:cNvSpPr/>
          <p:nvPr/>
        </p:nvSpPr>
        <p:spPr>
          <a:xfrm>
            <a:off x="6161632" y="1280367"/>
            <a:ext cx="398712" cy="398712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71245" y="1389979"/>
            <a:ext cx="179413" cy="179413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ext 11"/>
          <p:cNvSpPr txBox="1"/>
          <p:nvPr/>
        </p:nvSpPr>
        <p:spPr>
          <a:xfrm>
            <a:off x="6161632" y="1803648"/>
            <a:ext cx="133366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Investor Cohorts</a:t>
            </a:r>
          </a:p>
        </p:txBody>
      </p:sp>
      <p:sp>
        <p:nvSpPr>
          <p:cNvPr id="109" name="Text 12"/>
          <p:cNvSpPr txBox="1"/>
          <p:nvPr/>
        </p:nvSpPr>
        <p:spPr>
          <a:xfrm>
            <a:off x="6161632" y="2086049"/>
            <a:ext cx="2379539" cy="617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9000"/>
              </a:lnSpc>
              <a:defRPr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Segmented SIP behavior analysis by entry vintage uncovers retention patterns and churn risk signals</a:t>
            </a:r>
          </a:p>
        </p:txBody>
      </p:sp>
      <p:sp>
        <p:nvSpPr>
          <p:cNvPr id="110" name="Shape 13"/>
          <p:cNvSpPr/>
          <p:nvPr/>
        </p:nvSpPr>
        <p:spPr>
          <a:xfrm>
            <a:off x="465162" y="3172197"/>
            <a:ext cx="4044554" cy="1492970"/>
          </a:xfrm>
          <a:prstGeom prst="roundRect">
            <a:avLst>
              <a:gd name="adj" fmla="val 3739"/>
            </a:avLst>
          </a:prstGeom>
          <a:solidFill>
            <a:srgbClr val="DADBF1"/>
          </a:solidFill>
          <a:ln w="4763">
            <a:solidFill>
              <a:srgbClr val="C0C1D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Shape 14"/>
          <p:cNvSpPr/>
          <p:nvPr/>
        </p:nvSpPr>
        <p:spPr>
          <a:xfrm>
            <a:off x="602827" y="3309863"/>
            <a:ext cx="398712" cy="398712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12439" y="3419475"/>
            <a:ext cx="179413" cy="179413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Text 15"/>
          <p:cNvSpPr txBox="1"/>
          <p:nvPr/>
        </p:nvSpPr>
        <p:spPr>
          <a:xfrm>
            <a:off x="602828" y="3833143"/>
            <a:ext cx="14619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HHI Concentration</a:t>
            </a:r>
          </a:p>
        </p:txBody>
      </p:sp>
      <p:sp>
        <p:nvSpPr>
          <p:cNvPr id="114" name="Text 16"/>
          <p:cNvSpPr txBox="1"/>
          <p:nvPr/>
        </p:nvSpPr>
        <p:spPr>
          <a:xfrm>
            <a:off x="602827" y="4115544"/>
            <a:ext cx="3769223" cy="411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9000"/>
              </a:lnSpc>
              <a:defRPr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Herfindahl-Hirschman Index measures portfolio diversification — Banking &amp; IT dominate most fund holdings</a:t>
            </a:r>
          </a:p>
        </p:txBody>
      </p:sp>
      <p:sp>
        <p:nvSpPr>
          <p:cNvPr id="115" name="Shape 17"/>
          <p:cNvSpPr/>
          <p:nvPr/>
        </p:nvSpPr>
        <p:spPr>
          <a:xfrm>
            <a:off x="4634284" y="3172197"/>
            <a:ext cx="4044555" cy="1492970"/>
          </a:xfrm>
          <a:prstGeom prst="roundRect">
            <a:avLst>
              <a:gd name="adj" fmla="val 3739"/>
            </a:avLst>
          </a:prstGeom>
          <a:solidFill>
            <a:srgbClr val="DADBF1"/>
          </a:solidFill>
          <a:ln w="4763">
            <a:solidFill>
              <a:srgbClr val="C0C1D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Shape 18"/>
          <p:cNvSpPr/>
          <p:nvPr/>
        </p:nvSpPr>
        <p:spPr>
          <a:xfrm>
            <a:off x="4771950" y="3309863"/>
            <a:ext cx="398712" cy="398712"/>
          </a:xfrm>
          <a:prstGeom prst="roundRect">
            <a:avLst>
              <a:gd name="adj" fmla="val 50000"/>
            </a:avLst>
          </a:prstGeom>
          <a:solidFill>
            <a:srgbClr val="4950B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7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881562" y="3419475"/>
            <a:ext cx="179413" cy="179413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Text 19"/>
          <p:cNvSpPr txBox="1"/>
          <p:nvPr/>
        </p:nvSpPr>
        <p:spPr>
          <a:xfrm>
            <a:off x="4771950" y="3833143"/>
            <a:ext cx="244341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Fund Recommendation Engine</a:t>
            </a:r>
          </a:p>
        </p:txBody>
      </p:sp>
      <p:sp>
        <p:nvSpPr>
          <p:cNvPr id="119" name="Text 20"/>
          <p:cNvSpPr txBox="1"/>
          <p:nvPr/>
        </p:nvSpPr>
        <p:spPr>
          <a:xfrm>
            <a:off x="4771950" y="4115544"/>
            <a:ext cx="3769223" cy="4119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9000"/>
              </a:lnSpc>
              <a:defRPr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Rule-based engine ranks funds by investor risk profile, combining Sharpe, Sortino, and drawdown scores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 txBox="1"/>
          <p:nvPr/>
        </p:nvSpPr>
        <p:spPr>
          <a:xfrm>
            <a:off x="496118" y="741610"/>
            <a:ext cx="731071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7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Interactive Dashboard: Modules &amp; Deep Dive</a:t>
            </a:r>
          </a:p>
        </p:txBody>
      </p:sp>
      <p:sp>
        <p:nvSpPr>
          <p:cNvPr id="122" name="Text 1"/>
          <p:cNvSpPr txBox="1"/>
          <p:nvPr/>
        </p:nvSpPr>
        <p:spPr>
          <a:xfrm>
            <a:off x="496119" y="1468115"/>
            <a:ext cx="8151763" cy="453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The Streamlit dashboard consolidates all analytics into a single, filterable interface — designed for both exploratory analysis and executive reporting.</a:t>
            </a:r>
          </a:p>
        </p:txBody>
      </p:sp>
      <p:pic>
        <p:nvPicPr>
          <p:cNvPr id="12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6118" y="2081213"/>
            <a:ext cx="1871367" cy="1156544"/>
          </a:xfrm>
          <a:prstGeom prst="rect">
            <a:avLst/>
          </a:prstGeom>
          <a:ln w="12700">
            <a:miter lim="400000"/>
          </a:ln>
        </p:spPr>
      </p:pic>
      <p:sp>
        <p:nvSpPr>
          <p:cNvPr id="124" name="Text 2"/>
          <p:cNvSpPr txBox="1"/>
          <p:nvPr/>
        </p:nvSpPr>
        <p:spPr>
          <a:xfrm>
            <a:off x="496118" y="3414936"/>
            <a:ext cx="12050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Fund Rankings</a:t>
            </a:r>
          </a:p>
        </p:txBody>
      </p:sp>
      <p:sp>
        <p:nvSpPr>
          <p:cNvPr id="125" name="Text 3"/>
          <p:cNvSpPr txBox="1"/>
          <p:nvPr/>
        </p:nvSpPr>
        <p:spPr>
          <a:xfrm>
            <a:off x="496118" y="3721446"/>
            <a:ext cx="2599135" cy="680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Multi-criteria sortable rankings by Sharpe, CAGR, and risk scores with AMC and category filters</a:t>
            </a:r>
          </a:p>
        </p:txBody>
      </p:sp>
      <p:pic>
        <p:nvPicPr>
          <p:cNvPr id="12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72432" y="2081213"/>
            <a:ext cx="1871366" cy="1156544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ext 4"/>
          <p:cNvSpPr txBox="1"/>
          <p:nvPr/>
        </p:nvSpPr>
        <p:spPr>
          <a:xfrm>
            <a:off x="3272432" y="3414936"/>
            <a:ext cx="179599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Performance Analytics</a:t>
            </a:r>
          </a:p>
        </p:txBody>
      </p:sp>
      <p:sp>
        <p:nvSpPr>
          <p:cNvPr id="128" name="Text 5"/>
          <p:cNvSpPr txBox="1"/>
          <p:nvPr/>
        </p:nvSpPr>
        <p:spPr>
          <a:xfrm>
            <a:off x="3272432" y="3721446"/>
            <a:ext cx="2599135" cy="680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Interactive NAV charts, CAGR comparisons, and rolling return visualizations across time horizons</a:t>
            </a:r>
          </a:p>
        </p:txBody>
      </p:sp>
      <p:pic>
        <p:nvPicPr>
          <p:cNvPr id="129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48747" y="2081213"/>
            <a:ext cx="1871366" cy="1156544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Text 6"/>
          <p:cNvSpPr txBox="1"/>
          <p:nvPr/>
        </p:nvSpPr>
        <p:spPr>
          <a:xfrm>
            <a:off x="6048747" y="3414936"/>
            <a:ext cx="1135348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solidFill>
                  <a:srgbClr val="272525"/>
                </a:solidFill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Risk Analytics</a:t>
            </a:r>
          </a:p>
        </p:txBody>
      </p:sp>
      <p:sp>
        <p:nvSpPr>
          <p:cNvPr id="131" name="Text 7"/>
          <p:cNvSpPr txBox="1"/>
          <p:nvPr/>
        </p:nvSpPr>
        <p:spPr>
          <a:xfrm>
            <a:off x="6048747" y="3721446"/>
            <a:ext cx="2599135" cy="680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33000"/>
              </a:lnSpc>
              <a:defRPr sz="11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VaR, CVaR, Maximum Drawdown, and Rolling Sharpe visualizations with fund-level drill-down capability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 txBox="1"/>
          <p:nvPr/>
        </p:nvSpPr>
        <p:spPr>
          <a:xfrm>
            <a:off x="674489" y="346769"/>
            <a:ext cx="4514888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2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Key Findings &amp; Business Insights</a:t>
            </a:r>
          </a:p>
        </p:txBody>
      </p:sp>
      <p:sp>
        <p:nvSpPr>
          <p:cNvPr id="134" name="Text 1"/>
          <p:cNvSpPr txBox="1"/>
          <p:nvPr/>
        </p:nvSpPr>
        <p:spPr>
          <a:xfrm>
            <a:off x="674488" y="1990575"/>
            <a:ext cx="3759624" cy="324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>
            <a:lvl1pPr>
              <a:lnSpc>
                <a:spcPct val="120000"/>
              </a:lnSpc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Six high-impact findings validate the platform's analytical rigor and surface actionable intelligence for investors, AMCs, and advisors.</a:t>
            </a:r>
          </a:p>
        </p:txBody>
      </p:sp>
      <p:sp>
        <p:nvSpPr>
          <p:cNvPr id="135" name="Text 2"/>
          <p:cNvSpPr txBox="1"/>
          <p:nvPr/>
        </p:nvSpPr>
        <p:spPr>
          <a:xfrm>
            <a:off x="674488" y="2396282"/>
            <a:ext cx="3759624" cy="1293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20000"/>
              </a:lnSpc>
              <a:buSzPct val="100000"/>
              <a:buChar char="•"/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SIP inflows grew </a:t>
            </a:r>
            <a:r>
              <a:rPr b="1"/>
              <a:t>169%</a:t>
            </a:r>
            <a:r>
              <a:t> — from ₹11,517 Cr to ₹31,002 Cr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Total folios exceeded </a:t>
            </a:r>
            <a:r>
              <a:rPr b="1"/>
              <a:t>26 Crore</a:t>
            </a:r>
            <a:r>
              <a:t>; SBI MF leads by AUM and reach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Mirae Asset Large Cap topped rankings with Sharpe of </a:t>
            </a:r>
            <a:r>
              <a:rPr b="1"/>
              <a:t>~1.45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  <a:defRPr b="1"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1,300+ investors</a:t>
            </a:r>
            <a:r>
              <a:rPr b="0"/>
              <a:t> flagged as At-Risk for SIP discontinuity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Banking &amp; IT are the </a:t>
            </a:r>
            <a:r>
              <a:rPr b="1"/>
              <a:t>dominant sectors</a:t>
            </a:r>
            <a:r>
              <a:t> across fund portfolios</a:t>
            </a:r>
          </a:p>
          <a:p>
            <a:pPr marL="342900" indent="-342900">
              <a:lnSpc>
                <a:spcPct val="120000"/>
              </a:lnSpc>
              <a:buSzPct val="100000"/>
              <a:buChar char="•"/>
              <a:defRPr sz="8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Risk-adjusted metrics outperform return-only approaches for fund selection</a:t>
            </a:r>
          </a:p>
        </p:txBody>
      </p:sp>
      <p:pic>
        <p:nvPicPr>
          <p:cNvPr id="13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14502" y="935905"/>
            <a:ext cx="3759623" cy="37596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 0"/>
          <p:cNvSpPr txBox="1"/>
          <p:nvPr/>
        </p:nvSpPr>
        <p:spPr>
          <a:xfrm>
            <a:off x="488378" y="413816"/>
            <a:ext cx="504201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7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Conclusion &amp; Future Roadmap</a:t>
            </a:r>
          </a:p>
        </p:txBody>
      </p:sp>
      <p:sp>
        <p:nvSpPr>
          <p:cNvPr id="139" name="Text 1"/>
          <p:cNvSpPr txBox="1"/>
          <p:nvPr/>
        </p:nvSpPr>
        <p:spPr>
          <a:xfrm>
            <a:off x="488379" y="1193304"/>
            <a:ext cx="173174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Project Achievements</a:t>
            </a:r>
          </a:p>
        </p:txBody>
      </p:sp>
      <p:sp>
        <p:nvSpPr>
          <p:cNvPr id="140" name="Text 2"/>
          <p:cNvSpPr txBox="1"/>
          <p:nvPr/>
        </p:nvSpPr>
        <p:spPr>
          <a:xfrm>
            <a:off x="488379" y="1548704"/>
            <a:ext cx="3913436" cy="1915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32000"/>
              </a:lnSpc>
              <a:buSzPct val="100000"/>
              <a:buChar char="•"/>
              <a:defRPr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End-to-end ETL pipeline processing 8 financial datasets</a:t>
            </a:r>
          </a:p>
          <a:p>
            <a:pPr marL="342900" indent="-342900">
              <a:lnSpc>
                <a:spcPct val="132000"/>
              </a:lnSpc>
              <a:buSzPct val="100000"/>
              <a:buChar char="•"/>
              <a:defRPr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17 analytical modules — from EDA to advanced risk metrics</a:t>
            </a:r>
          </a:p>
          <a:p>
            <a:pPr marL="342900" indent="-342900">
              <a:lnSpc>
                <a:spcPct val="132000"/>
              </a:lnSpc>
              <a:buSzPct val="100000"/>
              <a:buChar char="•"/>
              <a:defRPr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Production-grade SQLite database with optimized schema</a:t>
            </a:r>
          </a:p>
          <a:p>
            <a:pPr marL="342900" indent="-342900">
              <a:lnSpc>
                <a:spcPct val="132000"/>
              </a:lnSpc>
              <a:buSzPct val="100000"/>
              <a:buChar char="•"/>
              <a:defRPr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Interactive Streamlit dashboard with fund recommendations</a:t>
            </a:r>
          </a:p>
        </p:txBody>
      </p:sp>
      <p:sp>
        <p:nvSpPr>
          <p:cNvPr id="141" name="Text 3"/>
          <p:cNvSpPr txBox="1"/>
          <p:nvPr/>
        </p:nvSpPr>
        <p:spPr>
          <a:xfrm>
            <a:off x="4746947" y="1193304"/>
            <a:ext cx="7649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13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Roadmap</a:t>
            </a:r>
          </a:p>
        </p:txBody>
      </p:sp>
      <p:sp>
        <p:nvSpPr>
          <p:cNvPr id="142" name="Text 4"/>
          <p:cNvSpPr txBox="1"/>
          <p:nvPr/>
        </p:nvSpPr>
        <p:spPr>
          <a:xfrm>
            <a:off x="4746947" y="1548704"/>
            <a:ext cx="3913437" cy="1915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 marL="342900" indent="-342900">
              <a:lnSpc>
                <a:spcPct val="132000"/>
              </a:lnSpc>
              <a:buSzPct val="100000"/>
              <a:buChar char="•"/>
              <a:defRPr b="1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Real-Time Data</a:t>
            </a:r>
            <a:r>
              <a:rPr b="0"/>
              <a:t> — Live API integration for current NAV and AUM</a:t>
            </a:r>
          </a:p>
          <a:p>
            <a:pPr marL="342900" indent="-342900">
              <a:lnSpc>
                <a:spcPct val="132000"/>
              </a:lnSpc>
              <a:buSzPct val="100000"/>
              <a:buChar char="•"/>
              <a:defRPr b="1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Machine Learning</a:t>
            </a:r>
            <a:r>
              <a:rPr b="0"/>
              <a:t> — Predictive models for fund performance and churn</a:t>
            </a:r>
          </a:p>
          <a:p>
            <a:pPr marL="342900" indent="-342900">
              <a:lnSpc>
                <a:spcPct val="132000"/>
              </a:lnSpc>
              <a:buSzPct val="100000"/>
              <a:buChar char="•"/>
              <a:defRPr b="1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Portfolio Optimization</a:t>
            </a:r>
            <a:r>
              <a:rPr b="0"/>
              <a:t> — Mean-variance and risk-parity algorithms</a:t>
            </a:r>
          </a:p>
          <a:p>
            <a:pPr marL="342900" indent="-342900">
              <a:lnSpc>
                <a:spcPct val="132000"/>
              </a:lnSpc>
              <a:buSzPct val="100000"/>
              <a:buChar char="•"/>
              <a:defRPr b="1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Cloud Deployment</a:t>
            </a:r>
            <a:r>
              <a:rPr b="0"/>
              <a:t> — AWS/GCP hosting with automated pipelines</a:t>
            </a:r>
          </a:p>
        </p:txBody>
      </p:sp>
      <p:sp>
        <p:nvSpPr>
          <p:cNvPr id="143" name="Shape 5"/>
          <p:cNvSpPr/>
          <p:nvPr/>
        </p:nvSpPr>
        <p:spPr>
          <a:xfrm>
            <a:off x="488379" y="3700810"/>
            <a:ext cx="8167242" cy="12701"/>
          </a:xfrm>
          <a:prstGeom prst="rect">
            <a:avLst/>
          </a:prstGeom>
          <a:solidFill>
            <a:srgbClr val="272525">
              <a:alpha val="5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6"/>
          <p:cNvSpPr txBox="1"/>
          <p:nvPr/>
        </p:nvSpPr>
        <p:spPr>
          <a:xfrm>
            <a:off x="488379" y="3953247"/>
            <a:ext cx="135154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04000"/>
              </a:lnSpc>
              <a:defRPr b="1" sz="2100">
                <a:latin typeface="Inter Bold"/>
                <a:ea typeface="Inter Bold"/>
                <a:cs typeface="Inter Bold"/>
                <a:sym typeface="Inter Bold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45" name="Text 7"/>
          <p:cNvSpPr txBox="1"/>
          <p:nvPr/>
        </p:nvSpPr>
        <p:spPr>
          <a:xfrm>
            <a:off x="488379" y="4508153"/>
            <a:ext cx="115619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132000"/>
              </a:lnSpc>
              <a:defRPr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Questions welcome.</a:t>
            </a:r>
          </a:p>
        </p:txBody>
      </p:sp>
      <p:sp>
        <p:nvSpPr>
          <p:cNvPr id="14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